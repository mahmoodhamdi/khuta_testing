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تطبيق خطى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299E1"/>
                </a:solidFill>
              </a:defRPr>
            </a:pPr>
            <a:r>
              <a:t>Khuta - ADHD Assessment App</a:t>
            </a:r>
            <a:br/>
            <a:r>
              <a:t>تقييم اضطراب فرط الحركة وتشتت الانتباه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نظرة عامة -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About Khuta - عن تطبيق خطى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تطبيق موبايل لتقييم اضطراب ADHD باستخدام مقياس كونرز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Mobile app for ADHD assessment using Conners' Rating Scale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يدعم اللغتين العربية والإنجليزية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توصيات ذكية باستخدام الذكاء الاصطناعي (Gemini AI)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تقارير PDF قابلة للمشاركة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يعمل بدون إنترنت مع مزامنة تلقائية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 - الميزات الرئيسية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99E1"/>
                </a:solidFill>
              </a:defRPr>
            </a:pPr>
            <a:r>
              <a:t>Authentication &amp;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تسجيل حساب آمن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إضافة ملفات الأطفال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تقييم الوالدين (27 سؤال)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تقييم المعلم (27 سؤال)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حساب T-Score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99E1"/>
                </a:solidFill>
              </a:defRPr>
            </a:pPr>
            <a:r>
              <a:t>Reports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توصيات AI مخصصة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سجل التقييمات السابقة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تقارير PDF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الوضع الليلي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دعم وضع عدم الاتصال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التقنيات المستخدمة - Technology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 - التقنيات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6459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4299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4299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المكون</a:t>
                      </a:r>
                    </a:p>
                  </a:txBody>
                  <a:tcPr>
                    <a:solidFill>
                      <a:srgbClr val="4299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Flutter (Dart)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الواجهة الأمامية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State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BLoC / Cubit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إدارة الحالة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Firebase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الخدمات الخلفية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Cloud Firestore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قاعدة البيانات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Firebase Auth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المصادقة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Google Gemini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الذكاء الاصطناعي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Reports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PDF Generation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3748"/>
                          </a:solidFill>
                        </a:defRPr>
                      </a:pPr>
                      <a:r>
                        <a:t>التقارير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هيكل النظام - 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 - هيكل النظام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572000" cy="91440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Presentation Layer</a:t>
            </a:r>
            <a:br/>
            <a:r>
              <a:t>واجهة المستخدم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4572000" cy="91440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State Management</a:t>
            </a:r>
            <a:br/>
            <a:r>
              <a:t>إدارة الحالة (BLoC)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4572000" cy="9144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Service Layer</a:t>
            </a:r>
            <a:br/>
            <a:r>
              <a:t>طبقة الخدمات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4572000" cy="9144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Layer</a:t>
            </a:r>
            <a:br/>
            <a:r>
              <a:t>طبقة البيانات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2D3748"/>
                </a:solidFill>
              </a:defRPr>
            </a:pPr>
            <a:r>
              <a:t>Screens &amp; Widgets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2D3748"/>
                </a:solidFill>
              </a:defRPr>
            </a:pPr>
            <a:r>
              <a:t>AuthCubit | ChildCubit | AssessmentCubit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2D3748"/>
                </a:solidFill>
              </a:defRPr>
            </a:pPr>
            <a:r>
              <a:t>ScoringService | AIService | ErrorHandler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2D3748"/>
                </a:solidFill>
              </a:defRPr>
            </a:pPr>
            <a:r>
              <a:t>Firebase | Firestore | Gemini AI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971800" y="2651760"/>
            <a:ext cx="457200" cy="274320"/>
          </a:xfrm>
          <a:prstGeom prst="down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2971800" y="3931920"/>
            <a:ext cx="457200" cy="274320"/>
          </a:xfrm>
          <a:prstGeom prst="down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2971800" y="5212079"/>
            <a:ext cx="457200" cy="274320"/>
          </a:xfrm>
          <a:prstGeom prst="down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مسار المستخدم - User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Flow - مسار المستخدم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280160" cy="137160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فتح التطبيق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Splash Screen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37360" y="2834640"/>
            <a:ext cx="137160" cy="274320"/>
          </a:xfrm>
          <a:prstGeom prst="right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20" y="2286000"/>
            <a:ext cx="1280160" cy="1371600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التعريف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Onboarding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2834640"/>
            <a:ext cx="137160" cy="274320"/>
          </a:xfrm>
          <a:prstGeom prst="right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2286000"/>
            <a:ext cx="1280160" cy="137160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تسجيل الدخول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Login/Register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0" y="2834640"/>
            <a:ext cx="137160" cy="274320"/>
          </a:xfrm>
          <a:prstGeom prst="right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2286000"/>
            <a:ext cx="1280160" cy="1371600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الشاشة الرئيسية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Home Screen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9320" y="2834640"/>
            <a:ext cx="137160" cy="274320"/>
          </a:xfrm>
          <a:prstGeom prst="right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2286000"/>
            <a:ext cx="1280160" cy="137160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إضافة طفل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Add Child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06640" y="2834640"/>
            <a:ext cx="137160" cy="274320"/>
          </a:xfrm>
          <a:prstGeom prst="right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2286000"/>
            <a:ext cx="1280160" cy="1371600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بدء التقييم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Start Assessment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3960" y="2834640"/>
            <a:ext cx="137160" cy="274320"/>
          </a:xfrm>
          <a:prstGeom prst="right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2286000"/>
            <a:ext cx="1280160" cy="137160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7. الإجابة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27 Questions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241280" y="2834640"/>
            <a:ext cx="137160" cy="274320"/>
          </a:xfrm>
          <a:prstGeom prst="rightArrow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78440" y="2286000"/>
            <a:ext cx="1280160" cy="1371600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8. النتائج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Results +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عملية التقييم - Assessment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Assessment Process - عملية التقييم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اختيار نوع التقييم (والدين / معلم)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الإجابة على 27 سؤال من مقياس كونرز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خيارات الإجابة: (0) أبداً - (1) قليلاً - (2) كثيراً - (3) كثيراً جداً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حساب الدرجة الخام من مجموع الإجابات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تحويل الدرجة إلى T-Score حسب العمر والجنس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الحصول على توصيات مخصصة من الذكاء الاصطناعي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حفظ النتائج وإمكانية تصدير تقرير 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Score Interpretation - تفسير الدرجات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371600" cy="91440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&lt;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748"/>
                </a:solidFill>
              </a:defRPr>
            </a:pPr>
            <a:r>
              <a:t>Average</a:t>
            </a:r>
            <a:br/>
            <a:r>
              <a:t>متوسط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8BB78"/>
                </a:solidFill>
              </a:defRPr>
            </a:pPr>
            <a:r>
              <a:t>Low Concern</a:t>
            </a:r>
            <a:br/>
            <a:r>
              <a:t>قلق منخفض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1371600" cy="914400"/>
          </a:xfrm>
          <a:prstGeom prst="roundRect">
            <a:avLst/>
          </a:prstGeom>
          <a:solidFill>
            <a:srgbClr val="ECC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45 - 55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748"/>
                </a:solidFill>
              </a:defRPr>
            </a:pPr>
            <a:r>
              <a:t>Slightly Elevated</a:t>
            </a:r>
            <a:br/>
            <a:r>
              <a:t>مرتفع قليلاً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C94B"/>
                </a:solidFill>
              </a:defRPr>
            </a:pPr>
            <a:r>
              <a:t>Monitor</a:t>
            </a:r>
            <a:br/>
            <a:r>
              <a:t>يحتاج متابعة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1371600" cy="91440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55 - 65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0233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748"/>
                </a:solidFill>
              </a:defRPr>
            </a:pPr>
            <a:r>
              <a:t>Elevated</a:t>
            </a:r>
            <a:br/>
            <a:r>
              <a:t>مرتفع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D8936"/>
                </a:solidFill>
              </a:defRPr>
            </a:pPr>
            <a:r>
              <a:t>Concern</a:t>
            </a:r>
            <a:br/>
            <a:r>
              <a:t>يحتاج اهتمام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371600" cy="914400"/>
          </a:xfrm>
          <a:prstGeom prst="round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&gt; 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2120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748"/>
                </a:solidFill>
              </a:defRPr>
            </a:pPr>
            <a:r>
              <a:t>Very Elevated</a:t>
            </a:r>
            <a:br/>
            <a:r>
              <a:t>مرتفع جداً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1208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6565"/>
                </a:solidFill>
              </a:defRPr>
            </a:pPr>
            <a:r>
              <a:t>High Concern</a:t>
            </a:r>
            <a:br/>
            <a:r>
              <a:t>يحتاج تدخل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قاعدة البيانات - Database Schema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Database Structure - هيكل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Users Collection: بيانات المستخدمين (البريد الإلكتروني، الاسم)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Children Collection: بيانات الأطفال (الاسم، العمر، الجنس)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TestResults Collection: نتائج التقييمات (الدرجة، التوصيات)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Cloud Firestore مع دعم وضع عدم الاتصال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قواعد أمان Firestore لحماية البيانات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المستخدم يمكنه الوصول فقط لبياناته الخاصة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الأمان - Security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Features - ميزات الأمان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99E1"/>
                </a:solidFill>
              </a:defRPr>
            </a:pPr>
            <a: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Firebase Authentication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Email Verification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Password Reset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Secure Session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99E1"/>
                </a:solidFill>
              </a:defRPr>
            </a:pPr>
            <a:r>
              <a:t>Data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Firebase App Check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Firestore Security Rules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Data Encryption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Offline Data Protection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الذكاء الاصطناعي - AI Recommendations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AI-Powered Recommendations - التوصيات الذكية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استخدام Google Gemini 2.0 Flash للتوصيات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تحليل إجابات التقييم لفهم نمط السلوك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توصيات مخصصة حسب درجة التقييم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دعم اللغتين العربية والإنجليزية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توصيات احتياطية في حالة فشل الاتصال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إعادة المحاولة تلقائياً (Retry Logic)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شاشات التطبيق - App Screens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 Screens - شاشات التطبيق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99E1"/>
                </a:solidFill>
              </a:defRPr>
            </a:pPr>
            <a:r>
              <a:t>Authentication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Splash Screen - شاشة البداية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Onboarding - شاشات التعريف (3)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Login - تسجيل الدخول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Register - إنشاء حساب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Email Verification - التحقق من البريد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99E1"/>
                </a:solidFill>
              </a:defRPr>
            </a:pPr>
            <a:r>
              <a:t>Main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Home - الشاشة الرئيسية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Add Child - إضافة طفل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Child Details - تفاصيل الطفل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Assessment - التقييم (27 سؤال)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Results - النتائج والتوصيات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• Settings - الإعدادات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دعم وضع عدم الاتصال - Offline Support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Offline Support - العمل بدون إنترنت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Firestore Persistence مع تخزين محلي غير محدود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عرض البيانات المحفوظة عند انقطاع الاتصال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Offline Queue لحفظ العمليات المعلقة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مزامنة تلقائية عند عودة الاتصال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Offline Banner لإظهار حالة الاتصال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تجربة مستخدم سلسة في جميع الأحوال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الاختبارات - Testing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Testing Strategy - استراتيجية الاختبارات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Unit Tests: اختبار الخدمات والـ Cubits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Widget Tests: اختبار مكونات الواجهة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Integration Tests: اختبار تدفق العمليات الكاملة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Mock Objects: استخدام Mockito للاختبارات المعزولة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Test Coverage: تغطية شاملة للكود الأساسي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D3748"/>
                </a:solidFill>
              </a:defRPr>
            </a:pPr>
            <a:r>
              <a:t>الملخص - Summary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Summary - ملخص المشروع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تطبيق Flutter متكامل لتقييم ADHD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استخدام BLoC/Cubit لإدارة الحالة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Firebase للمصادقة وتخزين البيانات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Gemini AI للتوصيات الذكية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دعم اللغتين العربية والإنجليزية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تصميم حديث مع Dark/Light Mode</a:t>
            </a:r>
          </a:p>
          <a:p>
            <a:pPr>
              <a:spcAft>
                <a:spcPts val="1200"/>
              </a:spcAft>
              <a:defRPr sz="2400">
                <a:solidFill>
                  <a:srgbClr val="2D3748"/>
                </a:solidFill>
              </a:defRPr>
            </a:pPr>
            <a:r>
              <a:t>• يعمل بدون إنترنت مع مزامنة تلقائية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شكراً لكم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299E1"/>
                </a:solidFill>
              </a:defRPr>
            </a:pPr>
            <a:r>
              <a:t>Thank You</a:t>
            </a:r>
            <a:br/>
            <a:br/>
            <a:r>
              <a:t>Khuta - ADHD Assessment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